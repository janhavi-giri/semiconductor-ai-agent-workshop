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6"/>
  </p:notesMasterIdLst>
  <p:sldIdLst>
    <p:sldId id="260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84BE22-6E71-4A0F-80FC-C4DB18B000A7}" v="2" dt="2026-09-16T17:23:44.1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102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ri, Janhavi" userId="76f0acab-8627-47fc-ab44-c1263b9dac46" providerId="ADAL" clId="{D12DF886-65DD-4BE6-B6F4-5D9E6C6AE491}"/>
    <pc:docChg chg="addSld modSld">
      <pc:chgData name="Giri, Janhavi" userId="76f0acab-8627-47fc-ab44-c1263b9dac46" providerId="ADAL" clId="{D12DF886-65DD-4BE6-B6F4-5D9E6C6AE491}" dt="2026-09-16T17:22:34.196" v="0"/>
      <pc:docMkLst>
        <pc:docMk/>
      </pc:docMkLst>
      <pc:sldChg chg="add setBg">
        <pc:chgData name="Giri, Janhavi" userId="76f0acab-8627-47fc-ab44-c1263b9dac46" providerId="ADAL" clId="{D12DF886-65DD-4BE6-B6F4-5D9E6C6AE491}" dt="2026-09-16T17:22:34.196" v="0"/>
        <pc:sldMkLst>
          <pc:docMk/>
          <pc:sldMk cId="0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janhavi-giri/semiconductor-ai-agent-workshop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nhavi-giri/semiconductor-ai-agent-workshop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nhavi-giri/semiconductor-ai-agent-workshop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nhavi-giri/semiconductor-ai-agent-workshop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417c24e6fe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27">
              <a:alpha val="78000"/>
            </a:srgbClr>
          </a:solidFill>
          <a:ln w="12700">
            <a:solidFill>
              <a:srgbClr val="0711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71127">
              <a:alpha val="92000"/>
            </a:srgbClr>
          </a:solidFill>
          <a:ln w="12700">
            <a:solidFill>
              <a:srgbClr val="0711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21792" y="530352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40D4E5"/>
                </a:solidFill>
              </a:rPr>
              <a:t>SEMICONDUCTOR AI AGENT WORKSHOP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21792" y="1024128"/>
            <a:ext cx="54406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Learn Agentic AI by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building a working system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58368" y="2578608"/>
            <a:ext cx="5074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CE6FF"/>
                </a:solidFill>
              </a:rPr>
              <a:t>A public, hands-on repository that connects synthetic wafer data, clustering tools, a ReAct agent, Gradio, and Docker.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58368" y="3730752"/>
            <a:ext cx="1234440" cy="365760"/>
          </a:xfrm>
          <a:prstGeom prst="roundRect">
            <a:avLst/>
          </a:prstGeom>
          <a:solidFill>
            <a:srgbClr val="6757E8">
              <a:alpha val="96000"/>
            </a:srgbClr>
          </a:solidFill>
          <a:ln w="12700">
            <a:solidFill>
              <a:srgbClr val="675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3826764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EXPLORE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084832" y="379476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Synthetic wafer data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58368" y="4315968"/>
            <a:ext cx="1234440" cy="365760"/>
          </a:xfrm>
          <a:prstGeom prst="roundRect">
            <a:avLst/>
          </a:prstGeom>
          <a:solidFill>
            <a:srgbClr val="20B8CD">
              <a:alpha val="96000"/>
            </a:srgbClr>
          </a:solidFill>
          <a:ln w="12700">
            <a:solidFill>
              <a:srgbClr val="20B8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1520" y="4411980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BUILD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084832" y="437997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Deterministic analytical tools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58368" y="4901184"/>
            <a:ext cx="1234440" cy="365760"/>
          </a:xfrm>
          <a:prstGeom prst="roundRect">
            <a:avLst/>
          </a:prstGeom>
          <a:solidFill>
            <a:srgbClr val="6757E8">
              <a:alpha val="96000"/>
            </a:srgbClr>
          </a:solidFill>
          <a:ln w="12700">
            <a:solidFill>
              <a:srgbClr val="675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31520" y="499719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ORCHESTRATE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084832" y="496519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 tool-using ReAct agent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58368" y="5486400"/>
            <a:ext cx="1234440" cy="365760"/>
          </a:xfrm>
          <a:prstGeom prst="roundRect">
            <a:avLst/>
          </a:prstGeom>
          <a:solidFill>
            <a:srgbClr val="20B8CD">
              <a:alpha val="96000"/>
            </a:srgbClr>
          </a:solidFill>
          <a:ln w="12700">
            <a:solidFill>
              <a:srgbClr val="20B8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31520" y="5582412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DEPLOY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2084832" y="555040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 reproducible Docker app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46520" y="5230368"/>
            <a:ext cx="4956048" cy="786384"/>
          </a:xfrm>
          <a:prstGeom prst="roundRect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6DE7F2">
                <a:alpha val="66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720840" y="54223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41D6E6"/>
                </a:solidFill>
              </a:rPr>
              <a:t>YOUR GOAL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818120" y="53766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/>
              <a:t>Run it. Question it. Extend it.</a:t>
            </a:r>
            <a:endParaRPr lang="en-US" sz="1700"/>
          </a:p>
        </p:txBody>
      </p:sp>
      <p:sp>
        <p:nvSpPr>
          <p:cNvPr id="23" name="Text 20"/>
          <p:cNvSpPr/>
          <p:nvPr/>
        </p:nvSpPr>
        <p:spPr>
          <a:xfrm>
            <a:off x="658368" y="64465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C6E8"/>
                </a:solidFill>
                <a:hlinkClick r:id="rId4"/>
              </a:rPr>
              <a:t>github.com/janhavi-giri/semiconductor-ai-agent-workshop</a:t>
            </a:r>
            <a:endParaRPr lang="en-US" sz="105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6E38DB4F-B6C9-FC52-6354-4793F275D80B}"/>
              </a:ext>
            </a:extLst>
          </p:cNvPr>
          <p:cNvSpPr/>
          <p:nvPr/>
        </p:nvSpPr>
        <p:spPr>
          <a:xfrm>
            <a:off x="7824848" y="5955563"/>
            <a:ext cx="4276114" cy="90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</a:rPr>
              <a:t>Janhavi Giri, PhD</a:t>
            </a:r>
          </a:p>
          <a:p>
            <a:r>
              <a:rPr lang="en-US" sz="2000" b="1" dirty="0">
                <a:solidFill>
                  <a:srgbClr val="FFFFFF"/>
                </a:solidFill>
              </a:rPr>
              <a:t>Principal Architect, NetApp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757E8"/>
          </a:solidFill>
          <a:ln w="12700">
            <a:solidFill>
              <a:srgbClr val="675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23B"/>
                </a:solidFill>
              </a:rPr>
              <a:t>Workshop journey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02412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87086"/>
                </a:solidFill>
              </a:rPr>
              <a:t>From deterministic analytics to an orchestrated AI agent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1783080" cy="2103120"/>
          </a:xfrm>
          <a:prstGeom prst="roundRect">
            <a:avLst/>
          </a:prstGeom>
          <a:solidFill>
            <a:srgbClr val="F0EDFF"/>
          </a:solidFill>
          <a:ln w="19050">
            <a:solidFill>
              <a:srgbClr val="675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25880" y="2176272"/>
            <a:ext cx="502920" cy="411480"/>
          </a:xfrm>
          <a:prstGeom prst="rect">
            <a:avLst/>
          </a:prstGeom>
          <a:solidFill>
            <a:srgbClr val="6757E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23B"/>
                </a:solidFill>
              </a:rPr>
              <a:t>Synthetic data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971800" y="1920240"/>
            <a:ext cx="1783080" cy="2103120"/>
          </a:xfrm>
          <a:prstGeom prst="roundRect">
            <a:avLst/>
          </a:prstGeom>
          <a:solidFill>
            <a:srgbClr val="EAF9FB"/>
          </a:solidFill>
          <a:ln w="19050">
            <a:solidFill>
              <a:srgbClr val="20B8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11880" y="2176272"/>
            <a:ext cx="502920" cy="411480"/>
          </a:xfrm>
          <a:prstGeom prst="rect">
            <a:avLst/>
          </a:prstGeom>
          <a:solidFill>
            <a:srgbClr val="20B8C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10896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23B"/>
                </a:solidFill>
              </a:rPr>
              <a:t>Clustering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57800" y="1920240"/>
            <a:ext cx="1783080" cy="2103120"/>
          </a:xfrm>
          <a:prstGeom prst="roundRect">
            <a:avLst/>
          </a:prstGeom>
          <a:solidFill>
            <a:srgbClr val="F0EDFF"/>
          </a:solidFill>
          <a:ln w="19050">
            <a:solidFill>
              <a:srgbClr val="675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97880" y="2176272"/>
            <a:ext cx="502920" cy="411480"/>
          </a:xfrm>
          <a:prstGeom prst="rect">
            <a:avLst/>
          </a:prstGeom>
          <a:solidFill>
            <a:srgbClr val="6757E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9496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23B"/>
                </a:solidFill>
              </a:rPr>
              <a:t>Tools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543800" y="1920240"/>
            <a:ext cx="1783080" cy="2103120"/>
          </a:xfrm>
          <a:prstGeom prst="roundRect">
            <a:avLst/>
          </a:prstGeom>
          <a:solidFill>
            <a:srgbClr val="EAF9FB"/>
          </a:solidFill>
          <a:ln w="19050">
            <a:solidFill>
              <a:srgbClr val="20B8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83880" y="2176272"/>
            <a:ext cx="502920" cy="411480"/>
          </a:xfrm>
          <a:prstGeom prst="rect">
            <a:avLst/>
          </a:prstGeom>
          <a:solidFill>
            <a:srgbClr val="20B8C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68096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23B"/>
                </a:solidFill>
              </a:rPr>
              <a:t>Agent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829800" y="1920240"/>
            <a:ext cx="1783080" cy="2103120"/>
          </a:xfrm>
          <a:prstGeom prst="roundRect">
            <a:avLst/>
          </a:prstGeom>
          <a:solidFill>
            <a:srgbClr val="F0EDFF"/>
          </a:solidFill>
          <a:ln w="19050">
            <a:solidFill>
              <a:srgbClr val="675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469880" y="2176272"/>
            <a:ext cx="502920" cy="411480"/>
          </a:xfrm>
          <a:prstGeom prst="rect">
            <a:avLst/>
          </a:prstGeom>
          <a:solidFill>
            <a:srgbClr val="6757E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96696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23B"/>
                </a:solidFill>
              </a:rPr>
              <a:t>UI</a:t>
            </a:r>
            <a:endParaRPr lang="en-US" sz="160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8CA55F15-E55C-46FB-0A98-82E60CD6491E}"/>
              </a:ext>
            </a:extLst>
          </p:cNvPr>
          <p:cNvSpPr/>
          <p:nvPr/>
        </p:nvSpPr>
        <p:spPr>
          <a:xfrm>
            <a:off x="658368" y="64465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C6E8"/>
                </a:solidFill>
                <a:hlinkClick r:id="rId3"/>
              </a:rPr>
              <a:t>github.com/janhavi-giri/semiconductor-ai-agent-workshop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757E8"/>
          </a:solidFill>
          <a:ln w="12700">
            <a:solidFill>
              <a:srgbClr val="675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23B"/>
                </a:solidFill>
              </a:rPr>
              <a:t>The agent loop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02412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87086"/>
                </a:solidFill>
              </a:rPr>
              <a:t>The language model selects inspectable tools and synthesizes evidence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61288" y="1691640"/>
            <a:ext cx="777240" cy="777240"/>
          </a:xfrm>
          <a:prstGeom prst="ellipse">
            <a:avLst/>
          </a:prstGeom>
          <a:solidFill>
            <a:srgbClr val="6757E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61288" y="1883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23B"/>
                </a:solidFill>
              </a:rPr>
              <a:t>Ask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68880" y="1901952"/>
            <a:ext cx="384048" cy="320040"/>
          </a:xfrm>
          <a:prstGeom prst="chevron">
            <a:avLst/>
          </a:prstGeom>
          <a:solidFill>
            <a:srgbClr val="F5B749"/>
          </a:solidFill>
          <a:ln w="12700">
            <a:solidFill>
              <a:srgbClr val="F5B7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47288" y="1691640"/>
            <a:ext cx="777240" cy="777240"/>
          </a:xfrm>
          <a:prstGeom prst="ellipse">
            <a:avLst/>
          </a:prstGeom>
          <a:solidFill>
            <a:srgbClr val="6757E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47288" y="1883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44368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23B"/>
                </a:solidFill>
              </a:rPr>
              <a:t>Reason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1901952"/>
            <a:ext cx="384048" cy="320040"/>
          </a:xfrm>
          <a:prstGeom prst="chevron">
            <a:avLst/>
          </a:prstGeom>
          <a:solidFill>
            <a:srgbClr val="F5B749"/>
          </a:solidFill>
          <a:ln w="12700">
            <a:solidFill>
              <a:srgbClr val="F5B7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733288" y="1691640"/>
            <a:ext cx="777240" cy="777240"/>
          </a:xfrm>
          <a:prstGeom prst="ellipse">
            <a:avLst/>
          </a:prstGeom>
          <a:solidFill>
            <a:srgbClr val="20B8C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33288" y="1883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30368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23B"/>
                </a:solidFill>
              </a:rPr>
              <a:t>Act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040880" y="1901952"/>
            <a:ext cx="384048" cy="320040"/>
          </a:xfrm>
          <a:prstGeom prst="chevron">
            <a:avLst/>
          </a:prstGeom>
          <a:solidFill>
            <a:srgbClr val="F5B749"/>
          </a:solidFill>
          <a:ln w="12700">
            <a:solidFill>
              <a:srgbClr val="F5B7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19288" y="1691640"/>
            <a:ext cx="777240" cy="777240"/>
          </a:xfrm>
          <a:prstGeom prst="ellipse">
            <a:avLst/>
          </a:prstGeom>
          <a:solidFill>
            <a:srgbClr val="6757E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19288" y="1883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516368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23B"/>
                </a:solidFill>
              </a:rPr>
              <a:t>Observe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326880" y="1901952"/>
            <a:ext cx="384048" cy="320040"/>
          </a:xfrm>
          <a:prstGeom prst="chevron">
            <a:avLst/>
          </a:prstGeom>
          <a:solidFill>
            <a:srgbClr val="F5B749"/>
          </a:solidFill>
          <a:ln w="12700">
            <a:solidFill>
              <a:srgbClr val="F5B7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305288" y="1691640"/>
            <a:ext cx="777240" cy="777240"/>
          </a:xfrm>
          <a:prstGeom prst="ellipse">
            <a:avLst/>
          </a:prstGeom>
          <a:solidFill>
            <a:srgbClr val="6757E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305288" y="1883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802368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23B"/>
                </a:solidFill>
              </a:rPr>
              <a:t>Answer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43000" y="4617720"/>
            <a:ext cx="9875520" cy="640080"/>
          </a:xfrm>
          <a:prstGeom prst="rect">
            <a:avLst/>
          </a:prstGeom>
          <a:solidFill>
            <a:srgbClr val="1722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Guardrail: computation comes from deterministic tools; the model explains results and limitations.</a:t>
            </a:r>
            <a:endParaRPr lang="en-US" sz="1800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99C58A2B-D32B-3953-476F-ED77B6294676}"/>
              </a:ext>
            </a:extLst>
          </p:cNvPr>
          <p:cNvSpPr/>
          <p:nvPr/>
        </p:nvSpPr>
        <p:spPr>
          <a:xfrm>
            <a:off x="658368" y="64465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C6E8"/>
                </a:solidFill>
                <a:hlinkClick r:id="rId3"/>
              </a:rPr>
              <a:t>github.com/janhavi-giri/semiconductor-ai-agent-workshop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757E8"/>
          </a:solidFill>
          <a:ln w="12700">
            <a:solidFill>
              <a:srgbClr val="675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23B"/>
                </a:solidFill>
              </a:rPr>
              <a:t>Hands-on exercises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02412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87086"/>
                </a:solidFill>
              </a:rPr>
              <a:t>Five progressive activities for a classroom or workshop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508760"/>
            <a:ext cx="10241280" cy="585216"/>
          </a:xfrm>
          <a:prstGeom prst="roundRect">
            <a:avLst/>
          </a:prstGeom>
          <a:solidFill>
            <a:srgbClr val="F2F0FE"/>
          </a:solidFill>
          <a:ln w="12700">
            <a:solidFill>
              <a:srgbClr val="DD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166420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757E8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1645920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23B"/>
                </a:solidFill>
              </a:rPr>
              <a:t>Explore synthetic wafer data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368296"/>
            <a:ext cx="10241280" cy="585216"/>
          </a:xfrm>
          <a:prstGeom prst="roundRect">
            <a:avLst/>
          </a:prstGeom>
          <a:solidFill>
            <a:srgbClr val="EEF9FA"/>
          </a:solidFill>
          <a:ln w="12700">
            <a:solidFill>
              <a:srgbClr val="DD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25237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757E8"/>
                </a:solidFill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2505456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23B"/>
                </a:solidFill>
              </a:rPr>
              <a:t>Compare clustering algorithms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227832"/>
            <a:ext cx="10241280" cy="585216"/>
          </a:xfrm>
          <a:prstGeom prst="roundRect">
            <a:avLst/>
          </a:prstGeom>
          <a:solidFill>
            <a:srgbClr val="F2F0FE"/>
          </a:solidFill>
          <a:ln w="12700">
            <a:solidFill>
              <a:srgbClr val="DD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3000" y="33832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757E8"/>
                </a:solidFill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28800" y="3364992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23B"/>
                </a:solidFill>
              </a:rPr>
              <a:t>Build a new analytical tool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4087368"/>
            <a:ext cx="10241280" cy="585216"/>
          </a:xfrm>
          <a:prstGeom prst="roundRect">
            <a:avLst/>
          </a:prstGeom>
          <a:solidFill>
            <a:srgbClr val="EEF9FA"/>
          </a:solidFill>
          <a:ln w="12700">
            <a:solidFill>
              <a:srgbClr val="DD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43000" y="424281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757E8"/>
                </a:solidFill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4224528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23B"/>
                </a:solidFill>
              </a:rPr>
              <a:t>Extend the ReAct agent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" y="4946904"/>
            <a:ext cx="10241280" cy="585216"/>
          </a:xfrm>
          <a:prstGeom prst="roundRect">
            <a:avLst/>
          </a:prstGeom>
          <a:solidFill>
            <a:srgbClr val="F2F0FE"/>
          </a:solidFill>
          <a:ln w="12700">
            <a:solidFill>
              <a:srgbClr val="DD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43000" y="510235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757E8"/>
                </a:solidFill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28800" y="5084064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23B"/>
                </a:solidFill>
              </a:rPr>
              <a:t>Containerize and demonstrate</a:t>
            </a:r>
            <a:endParaRPr lang="en-US" sz="150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5BDEF902-4B76-62F2-91F5-9D4804303BAF}"/>
              </a:ext>
            </a:extLst>
          </p:cNvPr>
          <p:cNvSpPr/>
          <p:nvPr/>
        </p:nvSpPr>
        <p:spPr>
          <a:xfrm>
            <a:off x="658368" y="64465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C6E8"/>
                </a:solidFill>
                <a:hlinkClick r:id="rId3"/>
              </a:rPr>
              <a:t>github.com/janhavi-giri/semiconductor-ai-agent-workshop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215</Words>
  <Application>Microsoft Office PowerPoint</Application>
  <PresentationFormat>Widescreen</PresentationFormat>
  <Paragraphs>62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Semiconductor AI Agent Workshop</dc:title>
  <dc:subject>PptxGenJS Presentation</dc:subject>
  <dc:creator>Janhavi Giri</dc:creator>
  <cp:lastModifiedBy>Giri, Janhavi</cp:lastModifiedBy>
  <cp:revision>2</cp:revision>
  <dcterms:created xsi:type="dcterms:W3CDTF">2026-09-15T22:04:57Z</dcterms:created>
  <dcterms:modified xsi:type="dcterms:W3CDTF">2026-09-16T17:25:35Z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6cbbcc7-4a82-45b2-a240-7f34a87e6af0_Enabled">
    <vt:lpwstr>true</vt:lpwstr>
  </property>
  <property fmtid="{D5CDD505-2E9C-101B-9397-08002B2CF9AE}" pid="3" name="MSIP_Label_06cbbcc7-4a82-45b2-a240-7f34a87e6af0_SetDate">
    <vt:lpwstr>2026-09-15T22:16:08Z</vt:lpwstr>
  </property>
  <property fmtid="{D5CDD505-2E9C-101B-9397-08002B2CF9AE}" pid="4" name="MSIP_Label_06cbbcc7-4a82-45b2-a240-7f34a87e6af0_Method">
    <vt:lpwstr>Privileged</vt:lpwstr>
  </property>
  <property fmtid="{D5CDD505-2E9C-101B-9397-08002B2CF9AE}" pid="5" name="MSIP_Label_06cbbcc7-4a82-45b2-a240-7f34a87e6af0_Name">
    <vt:lpwstr>NetApp - Public</vt:lpwstr>
  </property>
  <property fmtid="{D5CDD505-2E9C-101B-9397-08002B2CF9AE}" pid="6" name="MSIP_Label_06cbbcc7-4a82-45b2-a240-7f34a87e6af0_SiteId">
    <vt:lpwstr>4b0911a0-929b-4715-944b-c03745165b3a</vt:lpwstr>
  </property>
  <property fmtid="{D5CDD505-2E9C-101B-9397-08002B2CF9AE}" pid="7" name="MSIP_Label_06cbbcc7-4a82-45b2-a240-7f34a87e6af0_ActionId">
    <vt:lpwstr>f58bf943-dfa4-4518-af78-16c5e3d6db01</vt:lpwstr>
  </property>
  <property fmtid="{D5CDD505-2E9C-101B-9397-08002B2CF9AE}" pid="8" name="MSIP_Label_06cbbcc7-4a82-45b2-a240-7f34a87e6af0_ContentBits">
    <vt:lpwstr>0</vt:lpwstr>
  </property>
  <property fmtid="{D5CDD505-2E9C-101B-9397-08002B2CF9AE}" pid="9" name="MSIP_Label_06cbbcc7-4a82-45b2-a240-7f34a87e6af0_Tag">
    <vt:lpwstr>10, 0, 1, 1</vt:lpwstr>
  </property>
</Properties>
</file>